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5033" autoAdjust="0"/>
  </p:normalViewPr>
  <p:slideViewPr>
    <p:cSldViewPr snapToGrid="0">
      <p:cViewPr varScale="1">
        <p:scale>
          <a:sx n="95" d="100"/>
          <a:sy n="95" d="100"/>
        </p:scale>
        <p:origin x="211"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3.pn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3114" y="3090412"/>
            <a:ext cx="9671957" cy="861497"/>
          </a:xfrm>
        </p:spPr>
        <p:txBody>
          <a:bodyPr vert="horz" lIns="91440" tIns="45720" rIns="91440" bIns="45720" rtlCol="0" anchor="t">
            <a:normAutofit/>
          </a:bodyPr>
          <a:lstStyle/>
          <a:p>
            <a:pPr algn="r"/>
            <a:r>
              <a:rPr lang="en-US" b="0" dirty="0">
                <a:solidFill>
                  <a:schemeClr val="tx1"/>
                </a:solidFill>
              </a:rPr>
              <a:t>Student Name – </a:t>
            </a:r>
            <a:r>
              <a:rPr lang="en-US" b="0" dirty="0" err="1">
                <a:solidFill>
                  <a:schemeClr val="tx1"/>
                </a:solidFill>
              </a:rPr>
              <a:t>Nathbava</a:t>
            </a:r>
            <a:r>
              <a:rPr lang="en-US" b="0" dirty="0">
                <a:solidFill>
                  <a:schemeClr val="tx1"/>
                </a:solidFill>
              </a:rPr>
              <a:t> Krishna</a:t>
            </a:r>
            <a:endParaRPr lang="en-IN" b="0" dirty="0">
              <a:solidFill>
                <a:schemeClr val="tx1"/>
              </a:solidFill>
            </a:endParaRPr>
          </a:p>
          <a:p>
            <a:pPr algn="r"/>
            <a:r>
              <a:rPr lang="en-US" b="0" dirty="0">
                <a:solidFill>
                  <a:schemeClr val="tx1"/>
                </a:solidFill>
              </a:rPr>
              <a:t>College Name – Centre For Professional Courses , Gujarat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36616" y="1963070"/>
            <a:ext cx="7446962" cy="743448"/>
          </a:xfrm>
        </p:spPr>
        <p:txBody>
          <a:bodyPr>
            <a:normAutofit fontScale="90000"/>
          </a:bodyPr>
          <a:lstStyle/>
          <a:p>
            <a:r>
              <a:rPr lang="en-GB" sz="3200" dirty="0"/>
              <a:t>Project Title – Seasonal Agriculture </a:t>
            </a:r>
            <a:r>
              <a:rPr lang="en-GB" sz="3200" dirty="0" err="1"/>
              <a:t>Perfomance</a:t>
            </a:r>
            <a:r>
              <a:rPr lang="en-GB" sz="3200" dirty="0"/>
              <a:t>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576501" y="4242418"/>
            <a:ext cx="6397725" cy="369332"/>
          </a:xfrm>
          <a:prstGeom prst="rect">
            <a:avLst/>
          </a:prstGeom>
          <a:noFill/>
        </p:spPr>
        <p:txBody>
          <a:bodyPr wrap="square" rtlCol="0">
            <a:spAutoFit/>
          </a:bodyPr>
          <a:lstStyle/>
          <a:p>
            <a:r>
              <a:rPr lang="en-US" b="1" dirty="0"/>
              <a:t>AICTE STU ID : </a:t>
            </a:r>
            <a:r>
              <a:rPr lang="en-US" dirty="0"/>
              <a:t>STU6a661b61590b01785076577</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sz="4000" dirty="0"/>
                  <a:t>Project Description</a:t>
                </a:r>
                <a:br>
                  <a:rPr lang="en-GB" sz="4400" dirty="0"/>
                </a:br>
                <a:br>
                  <a:rPr lang="en-GB" dirty="0"/>
                </a:br>
                <a:r>
                  <a:rPr lang="en-US" sz="1800" dirty="0"/>
                  <a:t>📊 Project Overview</a:t>
                </a:r>
                <a:br>
                  <a:rPr lang="en-US" sz="1800" dirty="0"/>
                </a:br>
                <a:r>
                  <a:rPr lang="en-US" sz="1800" dirty="0"/>
                  <a:t>Topic: Seasonal Agriculture Performance Analysis (VOIS AICTE Project)</a:t>
                </a:r>
                <a:br>
                  <a:rPr lang="en-US" sz="1800" dirty="0"/>
                </a:br>
                <a:r>
                  <a:rPr lang="en-US" sz="1800" dirty="0"/>
                  <a:t>Data: 4,000 farm records across 8 states using Python (Google </a:t>
                </a:r>
                <a:r>
                  <a:rPr lang="en-US" sz="1800" dirty="0" err="1"/>
                  <a:t>Colab</a:t>
                </a:r>
                <a:r>
                  <a:rPr lang="en-US" sz="1800" dirty="0"/>
                  <a:t>)</a:t>
                </a:r>
                <a:br>
                  <a:rPr lang="en-US" sz="1800" dirty="0"/>
                </a:br>
                <a:br>
                  <a:rPr lang="en-US" sz="1800" dirty="0"/>
                </a:br>
                <a:r>
                  <a:rPr lang="en-US" sz="1800" dirty="0"/>
                  <a:t>💡 Key Insights</a:t>
                </a:r>
                <a:br>
                  <a:rPr lang="en-US" sz="1800" dirty="0"/>
                </a:br>
                <a:r>
                  <a:rPr lang="en-US" sz="1800" dirty="0"/>
                  <a:t>Top Season: Kharif yields highest productivity (5.64 </a:t>
                </a:r>
                <a:r>
                  <a:rPr lang="en-US" sz="1800" dirty="0" err="1"/>
                  <a:t>Tonnes</a:t>
                </a:r>
                <a:r>
                  <a:rPr lang="en-US" sz="1800" dirty="0"/>
                  <a:t>/Ha).</a:t>
                </a:r>
                <a:br>
                  <a:rPr lang="en-US" sz="1800" dirty="0"/>
                </a:br>
                <a:r>
                  <a:rPr lang="en-US" sz="1800" dirty="0"/>
                  <a:t>Water Efficiency: Drip irrigation is </a:t>
                </a:r>
                <a14:m>
                  <m:oMath xmlns:m="http://schemas.openxmlformats.org/officeDocument/2006/math">
                    <m:r>
                      <a:rPr lang="en-US" sz="1800">
                        <a:latin typeface="Cambria Math" panose="02040503050406030204" pitchFamily="18" charset="0"/>
                      </a:rPr>
                      <m:t>2×</m:t>
                    </m:r>
                  </m:oMath>
                </a14:m>
                <a:r>
                  <a:rPr lang="en-US" sz="1800" dirty="0"/>
                  <a:t>better than traditional Flood irrigation.</a:t>
                </a:r>
                <a:br>
                  <a:rPr lang="en-US" sz="1800" dirty="0"/>
                </a:br>
                <a:r>
                  <a:rPr lang="en-US" sz="1800" dirty="0"/>
                  <a:t>Cost Driver: High humidity increases pest risk and pesticide expenses.</a:t>
                </a:r>
                <a:br>
                  <a:rPr lang="en-US" sz="1800" dirty="0"/>
                </a:br>
                <a:br>
                  <a:rPr lang="en-US" sz="1800" dirty="0"/>
                </a:br>
                <a:r>
                  <a:rPr lang="en-US" sz="1800" dirty="0"/>
                  <a:t>🎯 Takeaways</a:t>
                </a:r>
                <a:br>
                  <a:rPr lang="en-US" sz="1800" dirty="0"/>
                </a:br>
                <a:r>
                  <a:rPr lang="en-US" sz="1800" dirty="0"/>
                  <a:t>Switch to Drip/Sprinkler systems for Zaid &amp; Rabi.</a:t>
                </a:r>
                <a:br>
                  <a:rPr lang="en-US" sz="1800" dirty="0"/>
                </a:br>
                <a:r>
                  <a:rPr lang="en-US" sz="1800" dirty="0"/>
                  <a:t>Test soil before applying NPK fertilizers to cut costs.</a:t>
                </a:r>
                <a:br>
                  <a:rPr lang="en-US" sz="1800" dirty="0"/>
                </a:br>
                <a:r>
                  <a:rPr lang="en-US" sz="1800" dirty="0"/>
                  <a:t>Data-driven seasonal farming maximizes net profit margins.</a:t>
                </a:r>
                <a:br>
                  <a:rPr lang="en-US" sz="1800" dirty="0"/>
                </a:br>
                <a:br>
                  <a:rPr lang="en-GB" dirty="0"/>
                </a:br>
                <a:endParaRPr lang="en-IN" dirty="0"/>
              </a:p>
            </p:txBody>
          </p:sp>
        </mc:Choice>
        <mc:Fallback xmlns="">
          <p:sp>
            <p:nvSpPr>
              <p:cNvPr id="3" name="Title 2">
                <a:extLst>
                  <a:ext uri="{FF2B5EF4-FFF2-40B4-BE49-F238E27FC236}">
                    <a16:creationId xmlns:a16="http://schemas.microsoft.com/office/drawing/2014/main" id="{EBF2FBC7-3552-4F01-BB27-8BEEE74F7277}"/>
                  </a:ext>
                </a:extLst>
              </p:cNvPr>
              <p:cNvSpPr>
                <a:spLocks noGrp="1" noRot="1" noChangeAspect="1" noMove="1" noResize="1" noEditPoints="1" noAdjustHandles="1" noChangeArrowheads="1" noChangeShapeType="1" noTextEdit="1"/>
              </p:cNvSpPr>
              <p:nvPr>
                <p:ph type="title"/>
              </p:nvPr>
            </p:nvSpPr>
            <p:spPr>
              <a:xfrm>
                <a:off x="660399" y="805213"/>
                <a:ext cx="6276109" cy="830997"/>
              </a:xfrm>
              <a:blipFill>
                <a:blip r:embed="rId2"/>
                <a:stretch>
                  <a:fillRect l="-2913" t="-10294" b="-59485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3"/>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4"/>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US" b="1" dirty="0"/>
              <a:t>Farmers &amp; Agri-Producers:</a:t>
            </a:r>
            <a:r>
              <a:rPr lang="en-US" dirty="0"/>
              <a:t> Optimizes crop selection, reduces fertilizer costs, and improves irrigation efficiency.</a:t>
            </a:r>
            <a:br>
              <a:rPr lang="en-US" dirty="0"/>
            </a:br>
            <a:endParaRPr lang="en-US" dirty="0"/>
          </a:p>
          <a:p>
            <a:pPr lvl="0"/>
            <a:r>
              <a:rPr lang="en-US" b="1" dirty="0"/>
              <a:t>Government &amp; Policy Makers:</a:t>
            </a:r>
            <a:r>
              <a:rPr lang="en-US" dirty="0"/>
              <a:t> Guides seasonal subsidies, water conservation schemes, and regional crop planning.</a:t>
            </a:r>
          </a:p>
          <a:p>
            <a:pPr lvl="0"/>
            <a:endParaRPr lang="en-US" dirty="0"/>
          </a:p>
          <a:p>
            <a:pPr lvl="0"/>
            <a:r>
              <a:rPr lang="en-US" b="1" dirty="0"/>
              <a:t>Agri-Tech &amp; Input Suppliers:</a:t>
            </a:r>
            <a:r>
              <a:rPr lang="en-US" dirty="0"/>
              <a:t> Helps align inventory (seeds, micro-irrigation, IPM) with regional soil and climate demands.</a:t>
            </a:r>
            <a:br>
              <a:rPr lang="en-US" dirty="0"/>
            </a:br>
            <a:endParaRPr lang="en-US" dirty="0"/>
          </a:p>
          <a:p>
            <a:pPr lvl="0"/>
            <a:r>
              <a:rPr lang="en-US" b="1" dirty="0"/>
              <a:t>Agri-Researchers &amp; Analysts:</a:t>
            </a:r>
            <a:r>
              <a:rPr lang="en-US" dirty="0"/>
              <a:t> Serves as a benchmark dataset for crop yield modeling and data-driven farming studies.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lvl="0"/>
            <a:r>
              <a:rPr lang="en-US" b="1" dirty="0"/>
              <a:t>Language:</a:t>
            </a:r>
            <a:r>
              <a:rPr lang="en-US" dirty="0"/>
              <a:t> Python 3</a:t>
            </a:r>
          </a:p>
          <a:p>
            <a:pPr lvl="0"/>
            <a:r>
              <a:rPr lang="en-US" b="1" dirty="0"/>
              <a:t>Environment:</a:t>
            </a:r>
            <a:r>
              <a:rPr lang="en-US" dirty="0"/>
              <a:t> Google </a:t>
            </a:r>
            <a:r>
              <a:rPr lang="en-US" dirty="0" err="1"/>
              <a:t>Colab</a:t>
            </a:r>
            <a:r>
              <a:rPr lang="en-US" dirty="0"/>
              <a:t> / Jupyter Notebook</a:t>
            </a:r>
          </a:p>
          <a:p>
            <a:pPr lvl="0"/>
            <a:r>
              <a:rPr lang="en-US" b="1" dirty="0"/>
              <a:t>Data Processing:</a:t>
            </a:r>
            <a:r>
              <a:rPr lang="en-US" dirty="0"/>
              <a:t> Pandas, NumPy</a:t>
            </a:r>
          </a:p>
          <a:p>
            <a:pPr lvl="0"/>
            <a:r>
              <a:rPr lang="en-US" b="1" dirty="0"/>
              <a:t>Data Visualization:</a:t>
            </a:r>
            <a:r>
              <a:rPr lang="en-US" dirty="0"/>
              <a:t> Matplotlib, Seaborn</a:t>
            </a:r>
          </a:p>
          <a:p>
            <a:pPr lvl="0"/>
            <a:r>
              <a:rPr lang="en-US" b="1" dirty="0"/>
              <a:t>Data Format:</a:t>
            </a:r>
            <a:r>
              <a:rPr lang="en-US" dirty="0"/>
              <a:t> Microsoft Excel (</a:t>
            </a:r>
            <a:r>
              <a:rPr lang="en-US" sz="1125" dirty="0"/>
              <a:t>.xlsx</a:t>
            </a:r>
            <a:r>
              <a:rPr lang="en-US" dirty="0"/>
              <a:t>) / CSV</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666479F-B06F-DB57-00A2-530E1EE217E2}"/>
              </a:ext>
            </a:extLst>
          </p:cNvPr>
          <p:cNvPicPr>
            <a:picLocks noChangeAspect="1"/>
          </p:cNvPicPr>
          <p:nvPr/>
        </p:nvPicPr>
        <p:blipFill>
          <a:blip r:embed="rId3"/>
          <a:stretch>
            <a:fillRect/>
          </a:stretch>
        </p:blipFill>
        <p:spPr>
          <a:xfrm>
            <a:off x="504337" y="1201586"/>
            <a:ext cx="6642422" cy="493722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0BBF5D7-A366-AF60-D22C-28039286ED29}"/>
              </a:ext>
            </a:extLst>
          </p:cNvPr>
          <p:cNvPicPr>
            <a:picLocks noChangeAspect="1"/>
          </p:cNvPicPr>
          <p:nvPr/>
        </p:nvPicPr>
        <p:blipFill>
          <a:blip r:embed="rId3"/>
          <a:stretch>
            <a:fillRect/>
          </a:stretch>
        </p:blipFill>
        <p:spPr>
          <a:xfrm>
            <a:off x="619810" y="1201586"/>
            <a:ext cx="6351017" cy="503701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5FC48C4-1998-7AAB-2B7B-286240FB5473}"/>
              </a:ext>
            </a:extLst>
          </p:cNvPr>
          <p:cNvPicPr>
            <a:picLocks noChangeAspect="1"/>
          </p:cNvPicPr>
          <p:nvPr/>
        </p:nvPicPr>
        <p:blipFill>
          <a:blip r:embed="rId3"/>
          <a:stretch>
            <a:fillRect/>
          </a:stretch>
        </p:blipFill>
        <p:spPr>
          <a:xfrm>
            <a:off x="675956" y="1154851"/>
            <a:ext cx="6623201" cy="547035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8951008-1B2A-F637-94F2-125C615C80BD}"/>
              </a:ext>
            </a:extLst>
          </p:cNvPr>
          <p:cNvPicPr>
            <a:picLocks noChangeAspect="1"/>
          </p:cNvPicPr>
          <p:nvPr/>
        </p:nvPicPr>
        <p:blipFill>
          <a:blip r:embed="rId3"/>
          <a:stretch>
            <a:fillRect/>
          </a:stretch>
        </p:blipFill>
        <p:spPr>
          <a:xfrm>
            <a:off x="504262" y="1201586"/>
            <a:ext cx="4869844" cy="548163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8AAEED1-7B38-240E-DE83-845AA0659473}"/>
              </a:ext>
            </a:extLst>
          </p:cNvPr>
          <p:cNvPicPr>
            <a:picLocks noChangeAspect="1"/>
          </p:cNvPicPr>
          <p:nvPr/>
        </p:nvPicPr>
        <p:blipFill>
          <a:blip r:embed="rId3"/>
          <a:stretch>
            <a:fillRect/>
          </a:stretch>
        </p:blipFill>
        <p:spPr>
          <a:xfrm>
            <a:off x="675957" y="1201586"/>
            <a:ext cx="7994801" cy="536765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444374"/>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1126E463-A848-7D2F-C631-426DE57B4F67}"/>
              </a:ext>
            </a:extLst>
          </p:cNvPr>
          <p:cNvSpPr txBox="1"/>
          <p:nvPr/>
        </p:nvSpPr>
        <p:spPr>
          <a:xfrm>
            <a:off x="435325" y="1546491"/>
            <a:ext cx="7553644" cy="4093428"/>
          </a:xfrm>
          <a:prstGeom prst="rect">
            <a:avLst/>
          </a:prstGeom>
          <a:noFill/>
        </p:spPr>
        <p:txBody>
          <a:bodyPr wrap="square">
            <a:spAutoFit/>
          </a:bodyPr>
          <a:lstStyle/>
          <a:p>
            <a:pPr marL="0" marR="0" lvl="0" indent="-342900" rtl="0">
              <a:buFont typeface="Arial" panose="020B0604020202020204" pitchFamily="34" charset="0"/>
              <a:buChar char="•"/>
            </a:pPr>
            <a:r>
              <a:rPr lang="en-US" sz="2000" b="1" dirty="0">
                <a:solidFill>
                  <a:schemeClr val="tx1"/>
                </a:solidFill>
                <a:effectLst/>
                <a:latin typeface="+mn-lt"/>
              </a:rPr>
              <a:t>Machine Learning &amp; Predictive Modeling:</a:t>
            </a:r>
            <a:r>
              <a:rPr lang="en-US" sz="2000" dirty="0">
                <a:solidFill>
                  <a:schemeClr val="tx1"/>
                </a:solidFill>
                <a:effectLst/>
                <a:latin typeface="+mn-lt"/>
              </a:rPr>
              <a:t> Implement ML models (e.g., Random Forest, </a:t>
            </a:r>
            <a:r>
              <a:rPr lang="en-US" sz="2000" dirty="0" err="1">
                <a:solidFill>
                  <a:schemeClr val="tx1"/>
                </a:solidFill>
                <a:effectLst/>
                <a:latin typeface="+mn-lt"/>
              </a:rPr>
              <a:t>XGBoost</a:t>
            </a:r>
            <a:r>
              <a:rPr lang="en-US" sz="2000" dirty="0">
                <a:solidFill>
                  <a:schemeClr val="tx1"/>
                </a:solidFill>
                <a:effectLst/>
                <a:latin typeface="+mn-lt"/>
              </a:rPr>
              <a:t>) for automated yield and profit prediction.</a:t>
            </a:r>
            <a:br>
              <a:rPr lang="en-US" sz="2000" dirty="0">
                <a:solidFill>
                  <a:schemeClr val="tx1"/>
                </a:solidFill>
                <a:effectLst/>
                <a:latin typeface="+mn-lt"/>
              </a:rPr>
            </a:br>
            <a:endParaRPr lang="en-US" sz="2000" dirty="0">
              <a:solidFill>
                <a:schemeClr val="tx1"/>
              </a:solidFill>
              <a:effectLst/>
              <a:latin typeface="+mn-lt"/>
            </a:endParaRPr>
          </a:p>
          <a:p>
            <a:pPr marL="0" marR="0" lvl="0" indent="-342900" rtl="0">
              <a:buFont typeface="Arial" panose="020B0604020202020204" pitchFamily="34" charset="0"/>
              <a:buChar char="•"/>
            </a:pPr>
            <a:r>
              <a:rPr lang="en-US" sz="2000" b="1" dirty="0">
                <a:solidFill>
                  <a:schemeClr val="tx1"/>
                </a:solidFill>
                <a:effectLst/>
                <a:latin typeface="+mn-lt"/>
              </a:rPr>
              <a:t>IoT &amp; Real-Time Data Integration:</a:t>
            </a:r>
            <a:r>
              <a:rPr lang="en-US" sz="2000" dirty="0">
                <a:solidFill>
                  <a:schemeClr val="tx1"/>
                </a:solidFill>
                <a:effectLst/>
                <a:latin typeface="+mn-lt"/>
              </a:rPr>
              <a:t> Connect live IoT sensor data for real-time soil moisture, temperature, and weather tracking.</a:t>
            </a:r>
          </a:p>
          <a:p>
            <a:pPr marR="0" lvl="0" rtl="0"/>
            <a:endParaRPr lang="en-US" sz="2000" dirty="0">
              <a:solidFill>
                <a:schemeClr val="tx1"/>
              </a:solidFill>
              <a:effectLst/>
              <a:latin typeface="+mn-lt"/>
            </a:endParaRPr>
          </a:p>
          <a:p>
            <a:pPr marL="0" marR="0" lvl="0" indent="-342900" rtl="0">
              <a:buFont typeface="Arial" panose="020B0604020202020204" pitchFamily="34" charset="0"/>
              <a:buChar char="•"/>
            </a:pPr>
            <a:r>
              <a:rPr lang="en-US" sz="2000" b="1" dirty="0">
                <a:solidFill>
                  <a:schemeClr val="tx1"/>
                </a:solidFill>
                <a:effectLst/>
                <a:latin typeface="+mn-lt"/>
              </a:rPr>
              <a:t>Interactive Dashboard:</a:t>
            </a:r>
            <a:r>
              <a:rPr lang="en-US" sz="2000" dirty="0">
                <a:solidFill>
                  <a:schemeClr val="tx1"/>
                </a:solidFill>
                <a:effectLst/>
                <a:latin typeface="+mn-lt"/>
              </a:rPr>
              <a:t> Build a Web / </a:t>
            </a:r>
            <a:r>
              <a:rPr lang="en-US" sz="2000" dirty="0" err="1">
                <a:solidFill>
                  <a:schemeClr val="tx1"/>
                </a:solidFill>
                <a:effectLst/>
                <a:latin typeface="+mn-lt"/>
              </a:rPr>
              <a:t>Streamlit</a:t>
            </a:r>
            <a:r>
              <a:rPr lang="en-US" sz="2000" dirty="0">
                <a:solidFill>
                  <a:schemeClr val="tx1"/>
                </a:solidFill>
                <a:effectLst/>
                <a:latin typeface="+mn-lt"/>
              </a:rPr>
              <a:t> dashboard for real-time visual analytics and scenario simulation.</a:t>
            </a:r>
          </a:p>
          <a:p>
            <a:pPr marR="0" lvl="0" rtl="0"/>
            <a:endParaRPr lang="en-US" sz="2000" dirty="0">
              <a:solidFill>
                <a:schemeClr val="tx1"/>
              </a:solidFill>
              <a:effectLst/>
              <a:latin typeface="+mn-lt"/>
            </a:endParaRPr>
          </a:p>
          <a:p>
            <a:pPr marL="0" marR="0" lvl="0" indent="-342900" rtl="0">
              <a:buFont typeface="Arial" panose="020B0604020202020204" pitchFamily="34" charset="0"/>
              <a:buChar char="•"/>
            </a:pPr>
            <a:r>
              <a:rPr lang="en-US" sz="2000" b="1" dirty="0">
                <a:solidFill>
                  <a:schemeClr val="tx1"/>
                </a:solidFill>
                <a:effectLst/>
                <a:latin typeface="+mn-lt"/>
              </a:rPr>
              <a:t>GIS &amp; Satellite Mapping:</a:t>
            </a:r>
            <a:r>
              <a:rPr lang="en-US" sz="2000" dirty="0">
                <a:solidFill>
                  <a:schemeClr val="tx1"/>
                </a:solidFill>
                <a:effectLst/>
                <a:latin typeface="+mn-lt"/>
              </a:rPr>
              <a:t> Integrate spatial mapping to analyze groundwater levels and regional crop health visually.</a:t>
            </a:r>
            <a:endParaRPr lang="en-US" sz="2000" dirty="0">
              <a:solidFill>
                <a:srgbClr val="1F1F1F"/>
              </a:solidFill>
              <a:effectLst/>
              <a:latin typeface="Google Sans Text"/>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https://github.com/Krishna24187/Seasonal-Agriculture-Perfomance-Analysis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BC61CD3-E3A8-4EF7-7CFA-66F245A74BF8}"/>
              </a:ext>
            </a:extLst>
          </p:cNvPr>
          <p:cNvPicPr>
            <a:picLocks noChangeAspect="1"/>
          </p:cNvPicPr>
          <p:nvPr/>
        </p:nvPicPr>
        <p:blipFill>
          <a:blip r:embed="rId3"/>
          <a:stretch>
            <a:fillRect/>
          </a:stretch>
        </p:blipFill>
        <p:spPr>
          <a:xfrm>
            <a:off x="486340" y="1449672"/>
            <a:ext cx="7558777" cy="502224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1393</TotalTime>
  <Words>475</Words>
  <Application>Microsoft Office PowerPoint</Application>
  <PresentationFormat>Widescreen</PresentationFormat>
  <Paragraphs>38</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Cambria Math</vt:lpstr>
      <vt:lpstr>Google Sans Text</vt:lpstr>
      <vt:lpstr>Trebuchet MS</vt:lpstr>
      <vt:lpstr>Wingdings</vt:lpstr>
      <vt:lpstr>Wingdings 3</vt:lpstr>
      <vt:lpstr>Facet</vt:lpstr>
      <vt:lpstr>Project Title – Seasonal Agriculture Perfomance Analysis</vt:lpstr>
      <vt:lpstr>PROBLEM  STATEMENT</vt:lpstr>
      <vt:lpstr>Project Description  📊 Project Overview Topic: Seasonal Agriculture Performance Analysis (VOIS AICTE Project) Data: 4,000 farm records across 8 states using Python (Google Colab)  💡 Key Insights Top Season: Kharif yields highest productivity (5.64 Tonnes/Ha). Water Efficiency: Drip irrigation is 2×better than traditional Flood irrigation. Cost Driver: High humidity increases pest risk and pesticide expenses.  🎯 Takeaways Switch to Drip/Sprinkler systems for Zaid &amp; Rabi. Test soil before applying NPK fertilizers to cut costs. Data-driven seasonal farming maximizes net profit margins.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urvashi parmar</cp:lastModifiedBy>
  <cp:revision>102</cp:revision>
  <dcterms:created xsi:type="dcterms:W3CDTF">2021-07-11T13:13:15Z</dcterms:created>
  <dcterms:modified xsi:type="dcterms:W3CDTF">2026-09-06T07:08:13Z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